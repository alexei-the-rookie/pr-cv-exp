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67" r:id="rId2"/>
    <p:sldId id="369" r:id="rId3"/>
    <p:sldId id="373" r:id="rId4"/>
    <p:sldId id="372" r:id="rId5"/>
    <p:sldId id="371" r:id="rId6"/>
    <p:sldId id="374" r:id="rId7"/>
  </p:sldIdLst>
  <p:sldSz cx="9144000" cy="6858000" type="screen4x3"/>
  <p:notesSz cx="69469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AA676"/>
    <a:srgbClr val="32000C"/>
    <a:srgbClr val="CB6B30"/>
    <a:srgbClr val="E36243"/>
    <a:srgbClr val="FF4A7E"/>
    <a:srgbClr val="0B0B0B"/>
    <a:srgbClr val="234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3" autoAdjust="0"/>
    <p:restoredTop sz="81673" autoAdjust="0"/>
  </p:normalViewPr>
  <p:slideViewPr>
    <p:cSldViewPr>
      <p:cViewPr varScale="1">
        <p:scale>
          <a:sx n="61" d="100"/>
          <a:sy n="61" d="100"/>
        </p:scale>
        <p:origin x="1272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1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0323" cy="461010"/>
          </a:xfrm>
          <a:prstGeom prst="rect">
            <a:avLst/>
          </a:prstGeom>
        </p:spPr>
        <p:txBody>
          <a:bodyPr vert="horz" lIns="92382" tIns="46191" rIns="92382" bIns="4619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4969" y="0"/>
            <a:ext cx="3010323" cy="461010"/>
          </a:xfrm>
          <a:prstGeom prst="rect">
            <a:avLst/>
          </a:prstGeom>
        </p:spPr>
        <p:txBody>
          <a:bodyPr vert="horz" lIns="92382" tIns="46191" rIns="92382" bIns="4619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16718D-8360-4CA2-A52F-457D5885EBF9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692150"/>
            <a:ext cx="4610100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82" tIns="46191" rIns="92382" bIns="4619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4690" y="4379595"/>
            <a:ext cx="5557520" cy="4149090"/>
          </a:xfrm>
          <a:prstGeom prst="rect">
            <a:avLst/>
          </a:prstGeom>
        </p:spPr>
        <p:txBody>
          <a:bodyPr vert="horz" lIns="92382" tIns="46191" rIns="92382" bIns="4619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10323" cy="461010"/>
          </a:xfrm>
          <a:prstGeom prst="rect">
            <a:avLst/>
          </a:prstGeom>
        </p:spPr>
        <p:txBody>
          <a:bodyPr vert="horz" lIns="92382" tIns="46191" rIns="92382" bIns="4619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4969" y="8757590"/>
            <a:ext cx="3010323" cy="461010"/>
          </a:xfrm>
          <a:prstGeom prst="rect">
            <a:avLst/>
          </a:prstGeom>
        </p:spPr>
        <p:txBody>
          <a:bodyPr vert="horz" lIns="92382" tIns="46191" rIns="92382" bIns="4619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57A54E-A0D1-41BC-B984-7211C3CBB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48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13999-41D4-4B40-AFC6-99FBFE0D642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62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13999-41D4-4B40-AFC6-99FBFE0D642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62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13999-41D4-4B40-AFC6-99FBFE0D642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62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13999-41D4-4B40-AFC6-99FBFE0D642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62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13999-41D4-4B40-AFC6-99FBFE0D642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62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470025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559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56775-AC2F-42AB-A214-F558B0CC5E41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A9E3F-CC94-4789-9C6D-0DDC34980E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99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14DDC-2F59-4DD9-9644-9BB0B60D9749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CADE4-B44B-4822-84F5-7BEBB33DB4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87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57B84-ACD7-448A-BBB4-70531AEC6B06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D8C24-9F21-4CF6-81D6-AC05CFB126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1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13751-1A31-4E06-9B5B-A4049CBFB6C9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9BF14E-2E86-4C42-9DD6-BFD7B7DA72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9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1F2DD-C394-4734-9911-106245C75798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27621-425E-488D-97FB-9DE1F642C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6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E78BEC-D406-4FCB-90E7-2D3D069AA800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4E534-8B18-4AB0-932D-FA1DC4FE50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47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161D1-D7B5-4618-AB21-E585768108F1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F6339-0CC2-44B7-A610-2D3B5D57FB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7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FBBE4-E04F-4ECB-9899-7F803D455DBC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2FEA3B-8ACA-495B-B7BA-DCCB09B530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2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7A50DB-3139-4AE0-93EF-C6575A567A97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8A1B3-6C48-48B2-AD80-AB4459BD95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0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CB5B1-F4DF-4BE8-B302-5BB02B35516F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0D90F-A11F-429C-850C-8D7B9D672C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10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1714F-B5A2-4D82-B175-AEC472608202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6A2839-9F41-4835-BCC7-60E70BBE8E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51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0668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6A9DFFF-75C1-499C-B315-9D8B96A5F9D5}" type="datetimeFigureOut">
              <a:rPr lang="en-US"/>
              <a:pPr>
                <a:defRPr/>
              </a:pPr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2A6A0CD-EA81-4982-8D7D-F48610E71D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b="1" dirty="0"/>
              <a:t>模式识别与图像处理</a:t>
            </a:r>
            <a:br>
              <a:rPr lang="en-US" altLang="zh-CN" b="1" dirty="0"/>
            </a:br>
            <a:br>
              <a:rPr lang="en-US" altLang="zh-CN" sz="900" b="1" dirty="0"/>
            </a:br>
            <a:r>
              <a:rPr lang="zh-CN" altLang="en-US" b="1" dirty="0"/>
              <a:t>课内实验</a:t>
            </a:r>
            <a:endParaRPr lang="en-US" altLang="en-US" b="1" dirty="0"/>
          </a:p>
        </p:txBody>
      </p:sp>
      <p:sp>
        <p:nvSpPr>
          <p:cNvPr id="48131" name="Subtitle 2"/>
          <p:cNvSpPr>
            <a:spLocks noGrp="1"/>
          </p:cNvSpPr>
          <p:nvPr>
            <p:ph type="subTitle" idx="1"/>
          </p:nvPr>
        </p:nvSpPr>
        <p:spPr>
          <a:xfrm>
            <a:off x="1447800" y="3860800"/>
            <a:ext cx="6400800" cy="2971800"/>
          </a:xfrm>
        </p:spPr>
        <p:txBody>
          <a:bodyPr/>
          <a:lstStyle/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周大可</a:t>
            </a:r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042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ctrTitle"/>
          </p:nvPr>
        </p:nvSpPr>
        <p:spPr>
          <a:xfrm>
            <a:off x="469900" y="457200"/>
            <a:ext cx="7772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b="1" dirty="0"/>
              <a:t>实验</a:t>
            </a:r>
            <a:r>
              <a:rPr lang="en-US" altLang="zh-CN" b="1" dirty="0"/>
              <a:t>I</a:t>
            </a:r>
            <a:r>
              <a:rPr lang="zh-CN" altLang="en-US" b="1" dirty="0"/>
              <a:t>：</a:t>
            </a:r>
            <a:r>
              <a:rPr lang="zh-CN" altLang="zh-CN" b="1" dirty="0"/>
              <a:t>图像增强</a:t>
            </a:r>
            <a:endParaRPr lang="en-US" altLang="en-US" b="1" dirty="0"/>
          </a:p>
        </p:txBody>
      </p:sp>
      <p:sp>
        <p:nvSpPr>
          <p:cNvPr id="3" name="矩形 2"/>
          <p:cNvSpPr/>
          <p:nvPr/>
        </p:nvSpPr>
        <p:spPr>
          <a:xfrm>
            <a:off x="457200" y="1981200"/>
            <a:ext cx="82296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实验目的：</a:t>
            </a:r>
            <a:endParaRPr lang="en-US" altLang="zh-CN" sz="2800" b="1" dirty="0"/>
          </a:p>
          <a:p>
            <a:r>
              <a:rPr lang="zh-CN" altLang="zh-CN" sz="2800" b="1" dirty="0"/>
              <a:t>掌握和实践图像增强</a:t>
            </a:r>
            <a:r>
              <a:rPr lang="zh-CN" altLang="en-US" sz="2800" b="1" dirty="0"/>
              <a:t>（对比度增强、图像平滑和图像锐化）</a:t>
            </a:r>
            <a:r>
              <a:rPr lang="zh-CN" altLang="zh-CN" sz="2800" b="1" dirty="0"/>
              <a:t>知识。</a:t>
            </a:r>
          </a:p>
          <a:p>
            <a:r>
              <a:rPr lang="en-US" altLang="zh-CN" sz="2400" b="1" dirty="0"/>
              <a:t> </a:t>
            </a:r>
            <a:endParaRPr lang="zh-CN" altLang="zh-CN" sz="2400" b="1" dirty="0"/>
          </a:p>
          <a:p>
            <a:r>
              <a:rPr lang="zh-CN" altLang="zh-CN" sz="2800" b="1" dirty="0"/>
              <a:t>实验内容和步骤：</a:t>
            </a:r>
          </a:p>
          <a:p>
            <a:r>
              <a:rPr lang="en-US" altLang="zh-CN" b="1" dirty="0"/>
              <a:t> </a:t>
            </a:r>
            <a:endParaRPr lang="zh-CN" altLang="zh-CN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zh-CN" b="1" dirty="0"/>
              <a:t>将</a:t>
            </a:r>
            <a:r>
              <a:rPr lang="en-US" altLang="zh-CN" b="1" dirty="0"/>
              <a:t>Image.jpg </a:t>
            </a:r>
            <a:r>
              <a:rPr lang="zh-CN" altLang="zh-CN" b="1" dirty="0"/>
              <a:t>转换为灰度图像</a:t>
            </a:r>
            <a:r>
              <a:rPr lang="en-US" altLang="zh-CN" b="1" dirty="0"/>
              <a:t>A</a:t>
            </a:r>
            <a:r>
              <a:rPr lang="zh-CN" altLang="zh-CN" b="1" dirty="0"/>
              <a:t>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zh-CN" b="1" dirty="0"/>
              <a:t>对图像</a:t>
            </a:r>
            <a:r>
              <a:rPr lang="en-US" altLang="zh-CN" b="1" dirty="0"/>
              <a:t>A</a:t>
            </a:r>
            <a:r>
              <a:rPr lang="zh-CN" altLang="zh-CN" b="1" dirty="0"/>
              <a:t>进行</a:t>
            </a:r>
            <a:r>
              <a:rPr lang="en-US" altLang="zh-CN" b="1" dirty="0"/>
              <a:t> </a:t>
            </a:r>
            <a:r>
              <a:rPr lang="zh-CN" altLang="zh-CN" b="1" dirty="0">
                <a:solidFill>
                  <a:srgbClr val="FF0000"/>
                </a:solidFill>
              </a:rPr>
              <a:t>直方图均衡化</a:t>
            </a:r>
            <a:r>
              <a:rPr lang="en-US" altLang="zh-CN" b="1" dirty="0">
                <a:solidFill>
                  <a:srgbClr val="FF0000"/>
                </a:solidFill>
              </a:rPr>
              <a:t>/</a:t>
            </a:r>
            <a:r>
              <a:rPr lang="zh-CN" altLang="en-US" b="1" dirty="0">
                <a:solidFill>
                  <a:srgbClr val="FF0000"/>
                </a:solidFill>
              </a:rPr>
              <a:t>图像滤波 </a:t>
            </a:r>
            <a:r>
              <a:rPr lang="zh-CN" altLang="zh-CN" b="1" dirty="0"/>
              <a:t>处理，得到处理后的图像</a:t>
            </a:r>
            <a:r>
              <a:rPr lang="en-US" altLang="zh-CN" b="1" dirty="0"/>
              <a:t>B</a:t>
            </a:r>
            <a:r>
              <a:rPr lang="zh-CN" altLang="zh-CN" b="1" dirty="0"/>
              <a:t>。显示图像</a:t>
            </a:r>
            <a:r>
              <a:rPr lang="en-US" altLang="zh-CN" b="1" dirty="0"/>
              <a:t>A</a:t>
            </a:r>
            <a:r>
              <a:rPr lang="zh-CN" altLang="zh-CN" b="1" dirty="0"/>
              <a:t>和</a:t>
            </a:r>
            <a:r>
              <a:rPr lang="en-US" altLang="zh-CN" b="1" dirty="0"/>
              <a:t>B</a:t>
            </a:r>
            <a:r>
              <a:rPr lang="zh-CN" altLang="zh-CN" b="1" dirty="0"/>
              <a:t>，以及各自对应的灰度直方图。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zh-CN" b="1" dirty="0"/>
              <a:t>对图像</a:t>
            </a:r>
            <a:r>
              <a:rPr lang="en-US" altLang="zh-CN" b="1" dirty="0"/>
              <a:t>A</a:t>
            </a:r>
            <a:r>
              <a:rPr lang="zh-CN" altLang="zh-CN" b="1" dirty="0"/>
              <a:t>和</a:t>
            </a:r>
            <a:r>
              <a:rPr lang="en-US" altLang="zh-CN" b="1" dirty="0"/>
              <a:t>B</a:t>
            </a:r>
            <a:r>
              <a:rPr lang="zh-CN" altLang="zh-CN" b="1" dirty="0"/>
              <a:t>分别使用罗伯特算子、索伯尔算子、</a:t>
            </a:r>
            <a:r>
              <a:rPr lang="en-US" altLang="zh-CN" b="1" dirty="0"/>
              <a:t>canny</a:t>
            </a:r>
            <a:r>
              <a:rPr lang="zh-CN" altLang="zh-CN" b="1" dirty="0"/>
              <a:t>算子、拉普拉斯算子，分别进行</a:t>
            </a:r>
            <a:r>
              <a:rPr lang="zh-CN" altLang="en-US" b="1" dirty="0"/>
              <a:t>图像锐化</a:t>
            </a:r>
            <a:r>
              <a:rPr lang="zh-CN" altLang="zh-CN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42509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400" y="671691"/>
            <a:ext cx="89789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I = </a:t>
            </a:r>
            <a:r>
              <a:rPr lang="en-US" altLang="zh-CN" sz="1600" dirty="0" err="1"/>
              <a:t>imread</a:t>
            </a:r>
            <a:r>
              <a:rPr lang="en-US" altLang="zh-CN" sz="1600" dirty="0"/>
              <a:t>(‘</a:t>
            </a:r>
            <a:r>
              <a:rPr lang="en-US" altLang="zh-CN" sz="1600" dirty="0" err="1"/>
              <a:t>lena.tif</a:t>
            </a:r>
            <a:r>
              <a:rPr lang="en-US" altLang="zh-CN" sz="1600" dirty="0"/>
              <a:t>'); % </a:t>
            </a:r>
            <a:r>
              <a:rPr lang="zh-CN" altLang="zh-CN" sz="1600" dirty="0"/>
              <a:t>读入原始图像</a:t>
            </a:r>
          </a:p>
          <a:p>
            <a:r>
              <a:rPr lang="en-US" altLang="zh-CN" sz="1600" dirty="0"/>
              <a:t> J = </a:t>
            </a:r>
            <a:r>
              <a:rPr lang="en-US" altLang="zh-CN" sz="1600" dirty="0" err="1"/>
              <a:t>imnoise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I,'salt</a:t>
            </a:r>
            <a:r>
              <a:rPr lang="en-US" altLang="zh-CN" sz="1600" dirty="0"/>
              <a:t> &amp; pepper',0.02); % </a:t>
            </a:r>
            <a:r>
              <a:rPr lang="zh-CN" altLang="zh-CN" sz="1600" dirty="0"/>
              <a:t>加入噪声，并将有噪声的图像赋值为</a:t>
            </a:r>
            <a:r>
              <a:rPr lang="en-US" altLang="zh-CN" sz="1600" dirty="0"/>
              <a:t>J</a:t>
            </a:r>
            <a:endParaRPr lang="zh-CN" altLang="zh-CN" sz="1600" dirty="0"/>
          </a:p>
          <a:p>
            <a:r>
              <a:rPr lang="en-US" altLang="zh-CN" sz="1600" dirty="0"/>
              <a:t> [M,N]=size(J); %</a:t>
            </a:r>
            <a:r>
              <a:rPr lang="zh-CN" altLang="zh-CN" sz="1600" dirty="0"/>
              <a:t>获得</a:t>
            </a:r>
            <a:r>
              <a:rPr lang="en-US" altLang="zh-CN" sz="1600" dirty="0"/>
              <a:t>J</a:t>
            </a:r>
            <a:r>
              <a:rPr lang="zh-CN" altLang="zh-CN" sz="1600" dirty="0"/>
              <a:t>的大小</a:t>
            </a:r>
            <a:r>
              <a:rPr lang="en-US" altLang="zh-CN" sz="1600" dirty="0"/>
              <a:t>M</a:t>
            </a:r>
            <a:r>
              <a:rPr lang="zh-CN" altLang="zh-CN" sz="1600" dirty="0"/>
              <a:t>行</a:t>
            </a:r>
            <a:r>
              <a:rPr lang="en-US" altLang="zh-CN" sz="1600" dirty="0"/>
              <a:t>N</a:t>
            </a:r>
            <a:r>
              <a:rPr lang="zh-CN" altLang="zh-CN" sz="1600" dirty="0"/>
              <a:t>列</a:t>
            </a:r>
          </a:p>
          <a:p>
            <a:r>
              <a:rPr lang="en-US" altLang="zh-CN" sz="1600" dirty="0"/>
              <a:t> 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=zeros(M+2, N+2,'uint8'); % </a:t>
            </a:r>
            <a:r>
              <a:rPr lang="zh-CN" altLang="zh-CN" sz="1600" dirty="0"/>
              <a:t>创建一个空图像</a:t>
            </a:r>
            <a:r>
              <a:rPr lang="en-US" altLang="zh-CN" sz="1600" dirty="0"/>
              <a:t> M+2</a:t>
            </a:r>
            <a:r>
              <a:rPr lang="zh-CN" altLang="zh-CN" sz="1600" dirty="0"/>
              <a:t>行，</a:t>
            </a:r>
            <a:r>
              <a:rPr lang="en-US" altLang="zh-CN" sz="1600" dirty="0"/>
              <a:t>N+2</a:t>
            </a:r>
            <a:r>
              <a:rPr lang="zh-CN" altLang="zh-CN" sz="1600" dirty="0"/>
              <a:t>列）</a:t>
            </a:r>
          </a:p>
          <a:p>
            <a:r>
              <a:rPr lang="en-US" altLang="zh-CN" sz="1600" dirty="0"/>
              <a:t> 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(2:M+1, 2:N+1)=J; % </a:t>
            </a:r>
            <a:r>
              <a:rPr lang="en-US" altLang="zh-CN" sz="1600" dirty="0" err="1"/>
              <a:t>J_pad</a:t>
            </a:r>
            <a:r>
              <a:rPr lang="zh-CN" altLang="zh-CN" sz="1600" dirty="0"/>
              <a:t>图像的中间部分与原图像一致</a:t>
            </a:r>
          </a:p>
          <a:p>
            <a:r>
              <a:rPr lang="en-US" altLang="zh-CN" sz="1600" dirty="0"/>
              <a:t> 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(1,2:N+1)=J(1,:); 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(M+2,2:N+1)=J(end,:); 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(2:M+1,1)=J(:,1); 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(2:M+1,N+2)=J(:,end); %</a:t>
            </a:r>
            <a:r>
              <a:rPr lang="en-US" altLang="zh-CN" sz="1600" dirty="0" err="1"/>
              <a:t>J_pad</a:t>
            </a:r>
            <a:r>
              <a:rPr lang="zh-CN" altLang="zh-CN" sz="1600" dirty="0"/>
              <a:t>的四个边赋值（与其最近邻的像素的值）</a:t>
            </a:r>
          </a:p>
          <a:p>
            <a:r>
              <a:rPr lang="en-US" altLang="zh-CN" sz="1600" dirty="0" err="1"/>
              <a:t>J_pad</a:t>
            </a:r>
            <a:r>
              <a:rPr lang="en-US" altLang="zh-CN" sz="1600" dirty="0"/>
              <a:t>(1,1)=J(1,1);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(1,end)=J(1,end);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(end,1)=J(end,1);</a:t>
            </a:r>
          </a:p>
          <a:p>
            <a:r>
              <a:rPr lang="en-US" altLang="zh-CN" sz="1600" dirty="0" err="1"/>
              <a:t>J_pad</a:t>
            </a:r>
            <a:r>
              <a:rPr lang="en-US" altLang="zh-CN" sz="1600" dirty="0"/>
              <a:t>(</a:t>
            </a:r>
            <a:r>
              <a:rPr lang="en-US" altLang="zh-CN" sz="1600" dirty="0" err="1"/>
              <a:t>end,end</a:t>
            </a:r>
            <a:r>
              <a:rPr lang="en-US" altLang="zh-CN" sz="1600" dirty="0"/>
              <a:t>)=J(</a:t>
            </a:r>
            <a:r>
              <a:rPr lang="en-US" altLang="zh-CN" sz="1600" dirty="0" err="1"/>
              <a:t>end,end</a:t>
            </a:r>
            <a:r>
              <a:rPr lang="en-US" altLang="zh-CN" sz="1600" dirty="0"/>
              <a:t>); % </a:t>
            </a:r>
            <a:r>
              <a:rPr lang="en-US" altLang="zh-CN" sz="1600" dirty="0" err="1"/>
              <a:t>J_pad</a:t>
            </a:r>
            <a:r>
              <a:rPr lang="zh-CN" altLang="zh-CN" sz="1600" dirty="0"/>
              <a:t>的四个角赋值（与其最近邻的像素的值）</a:t>
            </a:r>
          </a:p>
          <a:p>
            <a:r>
              <a:rPr lang="en-US" altLang="zh-CN" sz="1600" dirty="0"/>
              <a:t> </a:t>
            </a:r>
            <a:endParaRPr lang="zh-CN" altLang="zh-CN" sz="1600" dirty="0"/>
          </a:p>
          <a:p>
            <a:r>
              <a:rPr lang="en-US" altLang="zh-CN" sz="1600" dirty="0"/>
              <a:t> 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=double(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); % double</a:t>
            </a:r>
            <a:r>
              <a:rPr lang="zh-CN" altLang="zh-CN" sz="1600" dirty="0"/>
              <a:t>化</a:t>
            </a:r>
          </a:p>
          <a:p>
            <a:r>
              <a:rPr lang="en-US" altLang="zh-CN" sz="1600" dirty="0"/>
              <a:t> </a:t>
            </a:r>
            <a:r>
              <a:rPr lang="en-US" altLang="zh-CN" sz="1600" dirty="0" err="1"/>
              <a:t>J_meanfilt</a:t>
            </a:r>
            <a:r>
              <a:rPr lang="en-US" altLang="zh-CN" sz="1600" dirty="0"/>
              <a:t>=zeros(M,N); % </a:t>
            </a:r>
            <a:r>
              <a:rPr lang="en-US" altLang="zh-CN" sz="1600" dirty="0" err="1"/>
              <a:t>J_meanfilt</a:t>
            </a:r>
            <a:r>
              <a:rPr lang="zh-CN" altLang="zh-CN" sz="1600" dirty="0"/>
              <a:t>用来储存均值滤波的结果图像，与原图像一样。</a:t>
            </a:r>
          </a:p>
          <a:p>
            <a:r>
              <a:rPr lang="en-US" altLang="zh-CN" sz="1600" dirty="0"/>
              <a:t> for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=1:M</a:t>
            </a:r>
            <a:endParaRPr lang="zh-CN" altLang="zh-CN" sz="1600" dirty="0"/>
          </a:p>
          <a:p>
            <a:r>
              <a:rPr lang="en-US" altLang="zh-CN" sz="1600" dirty="0"/>
              <a:t>     for j=1:N  % </a:t>
            </a:r>
            <a:r>
              <a:rPr lang="zh-CN" altLang="zh-CN" sz="1600" dirty="0"/>
              <a:t>双层</a:t>
            </a:r>
            <a:r>
              <a:rPr lang="en-US" altLang="zh-CN" sz="1600" dirty="0"/>
              <a:t>for</a:t>
            </a:r>
            <a:r>
              <a:rPr lang="zh-CN" altLang="zh-CN" sz="1600" dirty="0"/>
              <a:t>循环 自上而下，从左到右 进行扫描</a:t>
            </a:r>
          </a:p>
          <a:p>
            <a:r>
              <a:rPr lang="en-US" altLang="zh-CN" sz="1600" dirty="0"/>
              <a:t>         ci=i+1; </a:t>
            </a:r>
            <a:r>
              <a:rPr lang="en-US" altLang="zh-CN" sz="1600" dirty="0" err="1"/>
              <a:t>cj</a:t>
            </a:r>
            <a:r>
              <a:rPr lang="en-US" altLang="zh-CN" sz="1600" dirty="0"/>
              <a:t>=j+1;</a:t>
            </a:r>
            <a:endParaRPr lang="zh-CN" altLang="zh-CN" sz="1600" dirty="0"/>
          </a:p>
          <a:p>
            <a:r>
              <a:rPr lang="en-US" altLang="zh-CN" sz="1600" dirty="0"/>
              <a:t>         sum=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(ci-1, cj-1)+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(ci-1, </a:t>
            </a:r>
            <a:r>
              <a:rPr lang="en-US" altLang="zh-CN" sz="1600" dirty="0" err="1"/>
              <a:t>cj</a:t>
            </a:r>
            <a:r>
              <a:rPr lang="en-US" altLang="zh-CN" sz="1600" dirty="0"/>
              <a:t>)+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(ci-1, cj+1)+...</a:t>
            </a:r>
            <a:endParaRPr lang="zh-CN" altLang="zh-CN" sz="1600" dirty="0"/>
          </a:p>
          <a:p>
            <a:r>
              <a:rPr lang="en-US" altLang="zh-CN" sz="1600" dirty="0"/>
              <a:t>             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(ci, cj-1)+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(ci, </a:t>
            </a:r>
            <a:r>
              <a:rPr lang="en-US" altLang="zh-CN" sz="1600" dirty="0" err="1"/>
              <a:t>cj</a:t>
            </a:r>
            <a:r>
              <a:rPr lang="en-US" altLang="zh-CN" sz="1600" dirty="0"/>
              <a:t>)+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(ci, cj+1)+...</a:t>
            </a:r>
            <a:endParaRPr lang="zh-CN" altLang="zh-CN" sz="1600" dirty="0"/>
          </a:p>
          <a:p>
            <a:r>
              <a:rPr lang="en-US" altLang="zh-CN" sz="1600" dirty="0"/>
              <a:t>             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(ci+1, cj-1)+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(ci+1, </a:t>
            </a:r>
            <a:r>
              <a:rPr lang="en-US" altLang="zh-CN" sz="1600" dirty="0" err="1"/>
              <a:t>cj</a:t>
            </a:r>
            <a:r>
              <a:rPr lang="en-US" altLang="zh-CN" sz="1600" dirty="0"/>
              <a:t>)+</a:t>
            </a:r>
            <a:r>
              <a:rPr lang="en-US" altLang="zh-CN" sz="1600" dirty="0" err="1"/>
              <a:t>J_pad</a:t>
            </a:r>
            <a:r>
              <a:rPr lang="en-US" altLang="zh-CN" sz="1600" dirty="0"/>
              <a:t>(ci+1, cj+1); % </a:t>
            </a:r>
            <a:r>
              <a:rPr lang="zh-CN" altLang="zh-CN" sz="1600" dirty="0"/>
              <a:t>扫描窗口</a:t>
            </a:r>
            <a:r>
              <a:rPr lang="en-US" altLang="zh-CN" sz="1600" dirty="0"/>
              <a:t>9</a:t>
            </a:r>
            <a:r>
              <a:rPr lang="zh-CN" altLang="zh-CN" sz="1600" dirty="0"/>
              <a:t>个元素求和</a:t>
            </a:r>
          </a:p>
          <a:p>
            <a:r>
              <a:rPr lang="en-US" altLang="zh-CN" sz="1600" dirty="0"/>
              <a:t>         </a:t>
            </a:r>
            <a:r>
              <a:rPr lang="en-US" altLang="zh-CN" sz="1600" dirty="0" err="1"/>
              <a:t>J_meanfilt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i,j</a:t>
            </a:r>
            <a:r>
              <a:rPr lang="en-US" altLang="zh-CN" sz="1600" dirty="0"/>
              <a:t>)=sum/9; % </a:t>
            </a:r>
            <a:r>
              <a:rPr lang="zh-CN" altLang="zh-CN" sz="1600" dirty="0"/>
              <a:t>求平均</a:t>
            </a:r>
          </a:p>
          <a:p>
            <a:r>
              <a:rPr lang="en-US" altLang="zh-CN" sz="1600" dirty="0"/>
              <a:t>     end</a:t>
            </a:r>
            <a:endParaRPr lang="zh-CN" altLang="zh-CN" sz="1600" dirty="0"/>
          </a:p>
          <a:p>
            <a:r>
              <a:rPr lang="en-US" altLang="zh-CN" sz="1600" dirty="0"/>
              <a:t> end</a:t>
            </a:r>
            <a:endParaRPr lang="zh-CN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imshow</a:t>
            </a:r>
            <a:r>
              <a:rPr lang="en-US" altLang="zh-CN" sz="1600" dirty="0"/>
              <a:t>(uint8(</a:t>
            </a:r>
            <a:r>
              <a:rPr lang="en-US" altLang="zh-CN" sz="1600" dirty="0" err="1"/>
              <a:t>J_meanfilt</a:t>
            </a:r>
            <a:r>
              <a:rPr lang="en-US" altLang="zh-CN" sz="1600" dirty="0"/>
              <a:t>)) % </a:t>
            </a:r>
            <a:r>
              <a:rPr lang="zh-CN" altLang="zh-CN" sz="1600" dirty="0"/>
              <a:t>显示结果</a:t>
            </a:r>
          </a:p>
        </p:txBody>
      </p:sp>
      <p:sp>
        <p:nvSpPr>
          <p:cNvPr id="5" name="矩形 4"/>
          <p:cNvSpPr/>
          <p:nvPr/>
        </p:nvSpPr>
        <p:spPr>
          <a:xfrm>
            <a:off x="25400" y="152400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附：均值滤波程序</a:t>
            </a:r>
          </a:p>
        </p:txBody>
      </p:sp>
    </p:spTree>
    <p:extLst>
      <p:ext uri="{BB962C8B-B14F-4D97-AF65-F5344CB8AC3E}">
        <p14:creationId xmlns:p14="http://schemas.microsoft.com/office/powerpoint/2010/main" val="476447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ctrTitle"/>
          </p:nvPr>
        </p:nvSpPr>
        <p:spPr>
          <a:xfrm>
            <a:off x="469900" y="457200"/>
            <a:ext cx="7772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b="1" dirty="0"/>
              <a:t>实验</a:t>
            </a:r>
            <a:r>
              <a:rPr lang="en-US" altLang="zh-CN" b="1" dirty="0"/>
              <a:t>II</a:t>
            </a:r>
            <a:r>
              <a:rPr lang="zh-CN" altLang="en-US" b="1" dirty="0"/>
              <a:t>：边缘</a:t>
            </a:r>
            <a:r>
              <a:rPr lang="en-US" altLang="zh-CN" b="1" dirty="0"/>
              <a:t>/</a:t>
            </a:r>
            <a:r>
              <a:rPr lang="zh-CN" altLang="en-US" b="1" dirty="0"/>
              <a:t>线段检测</a:t>
            </a:r>
            <a:endParaRPr lang="en-US" altLang="en-US" b="1" dirty="0"/>
          </a:p>
        </p:txBody>
      </p:sp>
      <p:sp>
        <p:nvSpPr>
          <p:cNvPr id="3" name="矩形 2"/>
          <p:cNvSpPr/>
          <p:nvPr/>
        </p:nvSpPr>
        <p:spPr>
          <a:xfrm>
            <a:off x="457200" y="1981200"/>
            <a:ext cx="8229600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实验目的：</a:t>
            </a:r>
            <a:endParaRPr lang="en-US" altLang="zh-CN" sz="2800" b="1" dirty="0"/>
          </a:p>
          <a:p>
            <a:r>
              <a:rPr lang="zh-CN" altLang="zh-CN" sz="2800" b="1" dirty="0"/>
              <a:t>掌握和实践图像增强中的</a:t>
            </a:r>
            <a:r>
              <a:rPr lang="zh-CN" altLang="en-US" sz="2800" b="1" dirty="0"/>
              <a:t>边缘和线段检测</a:t>
            </a:r>
            <a:r>
              <a:rPr lang="zh-CN" altLang="zh-CN" sz="2800" b="1" dirty="0"/>
              <a:t>的知识。</a:t>
            </a:r>
          </a:p>
          <a:p>
            <a:r>
              <a:rPr lang="en-US" altLang="zh-CN" sz="2400" b="1" dirty="0"/>
              <a:t> </a:t>
            </a:r>
            <a:endParaRPr lang="zh-CN" altLang="zh-CN" sz="2400" b="1" dirty="0"/>
          </a:p>
          <a:p>
            <a:r>
              <a:rPr lang="zh-CN" altLang="zh-CN" sz="2800" b="1" dirty="0"/>
              <a:t>实验内容和步骤：</a:t>
            </a:r>
            <a:endParaRPr lang="en-US" altLang="zh-CN" sz="2800" b="1" dirty="0"/>
          </a:p>
          <a:p>
            <a:endParaRPr lang="zh-CN" altLang="zh-CN" sz="2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在</a:t>
            </a:r>
            <a:r>
              <a:rPr lang="zh-CN" altLang="zh-CN" b="1" dirty="0"/>
              <a:t>罗伯特算子、索伯尔算子、</a:t>
            </a:r>
            <a:r>
              <a:rPr lang="en-US" altLang="zh-CN" b="1" dirty="0"/>
              <a:t>canny</a:t>
            </a:r>
            <a:r>
              <a:rPr lang="zh-CN" altLang="zh-CN" b="1" dirty="0"/>
              <a:t>算子、拉普拉斯算子</a:t>
            </a:r>
            <a:r>
              <a:rPr lang="zh-CN" altLang="en-US" b="1" dirty="0"/>
              <a:t>锐化的基础上</a:t>
            </a:r>
            <a:r>
              <a:rPr lang="zh-CN" altLang="zh-CN" b="1" dirty="0"/>
              <a:t>，分别进行边缘检测，比较哪种边缘检测的方法好，以及进行</a:t>
            </a:r>
            <a:r>
              <a:rPr lang="en-US" altLang="zh-CN" b="1" dirty="0"/>
              <a:t> </a:t>
            </a:r>
            <a:r>
              <a:rPr lang="zh-CN" altLang="zh-CN" b="1" dirty="0">
                <a:solidFill>
                  <a:srgbClr val="FF0000"/>
                </a:solidFill>
              </a:rPr>
              <a:t>直方图均衡化</a:t>
            </a:r>
            <a:r>
              <a:rPr lang="en-US" altLang="zh-CN" b="1" dirty="0">
                <a:solidFill>
                  <a:srgbClr val="FF0000"/>
                </a:solidFill>
              </a:rPr>
              <a:t>/</a:t>
            </a:r>
            <a:r>
              <a:rPr lang="zh-CN" altLang="en-US" b="1" dirty="0">
                <a:solidFill>
                  <a:srgbClr val="FF0000"/>
                </a:solidFill>
              </a:rPr>
              <a:t>图像滤波 </a:t>
            </a:r>
            <a:r>
              <a:rPr lang="zh-CN" altLang="zh-CN" b="1" dirty="0"/>
              <a:t>能否提高</a:t>
            </a:r>
            <a:r>
              <a:rPr lang="zh-CN" altLang="zh-CN" b="1" dirty="0">
                <a:solidFill>
                  <a:srgbClr val="FF0000"/>
                </a:solidFill>
              </a:rPr>
              <a:t>线段</a:t>
            </a:r>
            <a:r>
              <a:rPr lang="zh-CN" altLang="zh-CN" b="1" dirty="0"/>
              <a:t>边缘检测的精度和召回率（</a:t>
            </a:r>
            <a:r>
              <a:rPr lang="en-US" altLang="zh-CN" b="1" dirty="0"/>
              <a:t>Precision</a:t>
            </a:r>
            <a:r>
              <a:rPr lang="zh-CN" altLang="zh-CN" b="1" dirty="0"/>
              <a:t>、 </a:t>
            </a:r>
            <a:r>
              <a:rPr lang="en-US" altLang="zh-CN" b="1" dirty="0"/>
              <a:t>Recall</a:t>
            </a:r>
            <a:r>
              <a:rPr lang="zh-CN" altLang="zh-CN" b="1" dirty="0"/>
              <a:t>指标）。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b="1" dirty="0"/>
              <a:t>在边缘检测基础上将两条电力线完整的提取出来：求解直线方程参数（建议尝试</a:t>
            </a:r>
            <a:r>
              <a:rPr lang="en-US" altLang="zh-CN" b="1" dirty="0"/>
              <a:t>Hough</a:t>
            </a:r>
            <a:r>
              <a:rPr lang="zh-CN" altLang="zh-CN" b="1" dirty="0"/>
              <a:t>变换的方法），给出线段边缘点的序列，并评价检测效果（</a:t>
            </a:r>
            <a:r>
              <a:rPr lang="en-US" altLang="zh-CN" b="1" dirty="0"/>
              <a:t>Precision</a:t>
            </a:r>
            <a:r>
              <a:rPr lang="zh-CN" altLang="zh-CN" b="1" dirty="0"/>
              <a:t>、</a:t>
            </a:r>
            <a:r>
              <a:rPr lang="en-US" altLang="zh-CN" b="1" dirty="0"/>
              <a:t>Recall</a:t>
            </a:r>
            <a:r>
              <a:rPr lang="zh-CN" altLang="zh-CN" b="1" dirty="0"/>
              <a:t>指标）。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8213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55674"/>
            <a:ext cx="7772400" cy="5819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0" y="0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附：拉普拉斯算子代码</a:t>
            </a:r>
          </a:p>
        </p:txBody>
      </p:sp>
    </p:spTree>
    <p:extLst>
      <p:ext uri="{BB962C8B-B14F-4D97-AF65-F5344CB8AC3E}">
        <p14:creationId xmlns:p14="http://schemas.microsoft.com/office/powerpoint/2010/main" val="264250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95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附：</a:t>
            </a:r>
            <a:endParaRPr lang="en-US" altLang="zh-CN" sz="2400" b="1" dirty="0"/>
          </a:p>
          <a:p>
            <a:r>
              <a:rPr lang="en-US" altLang="zh-CN" sz="2400" b="1" dirty="0"/>
              <a:t>Hough</a:t>
            </a:r>
            <a:r>
              <a:rPr lang="zh-CN" altLang="en-US" sz="2400" b="1" dirty="0"/>
              <a:t>变换</a:t>
            </a:r>
            <a:endParaRPr lang="en-US" altLang="zh-CN" sz="2400" b="1" dirty="0"/>
          </a:p>
          <a:p>
            <a:r>
              <a:rPr lang="zh-CN" altLang="en-US" sz="2400" b="1" dirty="0"/>
              <a:t>代码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14287"/>
            <a:ext cx="5553075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26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7365D"/>
      </a:hlink>
      <a:folHlink>
        <a:srgbClr val="17365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44658</TotalTime>
  <Words>727</Words>
  <Application>Microsoft Office PowerPoint</Application>
  <PresentationFormat>全屏显示(4:3)</PresentationFormat>
  <Paragraphs>52</Paragraphs>
  <Slides>6</Slides>
  <Notes>5</Notes>
  <HiddenSlides>3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模式识别与图像处理  课内实验</vt:lpstr>
      <vt:lpstr>实验I：图像增强</vt:lpstr>
      <vt:lpstr>PowerPoint 演示文稿</vt:lpstr>
      <vt:lpstr>实验II：边缘/线段检测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Derek Hoiem</dc:creator>
  <cp:lastModifiedBy>Dake ZHOU</cp:lastModifiedBy>
  <cp:revision>183</cp:revision>
  <cp:lastPrinted>2012-04-05T17:16:34Z</cp:lastPrinted>
  <dcterms:created xsi:type="dcterms:W3CDTF">2009-12-16T02:55:56Z</dcterms:created>
  <dcterms:modified xsi:type="dcterms:W3CDTF">2025-10-19T09:46:09Z</dcterms:modified>
</cp:coreProperties>
</file>